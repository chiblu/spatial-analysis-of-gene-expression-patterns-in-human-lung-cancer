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56" r:id="rId13"/>
  </p:sldIdLst>
  <p:sldSz cx="14630400" cy="8229600"/>
  <p:notesSz cx="8229600" cy="14630400"/>
  <p:embeddedFontLst>
    <p:embeddedFont>
      <p:font typeface="Instrument Sans Medium" panose="020B0604020202020204" charset="0"/>
      <p:regular r:id="rId15"/>
    </p:embeddedFont>
    <p:embeddedFont>
      <p:font typeface="Open Sans" panose="020B0606030504020204" pitchFamily="34" charset="0"/>
      <p:regular r:id="rId16"/>
      <p:bold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59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4342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Spatial Analysis of Gene Expression Patterns in Human Lung Cancer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2429947" y="3700939"/>
            <a:ext cx="977038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Comparative Study of GraphST and BANKSY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6080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Suhas Uttarala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261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Supervisor: Dr. Daniel D'Andrea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8441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 of Data Science in the Faculty of Engineering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4622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DB5D1D-32F3-14F8-21FE-22273CD18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6716" y="7766940"/>
            <a:ext cx="1863684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8375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Motivation: Why AI for Spatial Analysis in Lung Cancer?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5025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spatial arrangement of the </a:t>
            </a:r>
            <a:r>
              <a:rPr lang="en-US" sz="1750" b="1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Tumour Microenvironment (TME)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critical for lung cancer development, metastasis, and therapy response.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931212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Spatial Transcriptomics (ST)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a key technology for mapping the TME's complex architecture at a molecular level. ST experiments produce massive datasets (tens of thousands of coordinates, thousands of genes), making AI-driven computational models essential to identify meaningful biological patterns.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9938" y="361355"/>
            <a:ext cx="821400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Two Competing AI Philosophies: GraphST vs. BANKSY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38" y="1116926"/>
            <a:ext cx="6695003" cy="3594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7514" y="5372052"/>
            <a:ext cx="211038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GraphST (Global Approach)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85618" y="5838182"/>
            <a:ext cx="6695003" cy="420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a </a:t>
            </a:r>
            <a:r>
              <a:rPr lang="en-US" sz="1400" b="1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 Neural Network (GNN)</a:t>
            </a: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learn a combined embedding of spatial and transcriptional similarity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5618" y="6563868"/>
            <a:ext cx="5583812" cy="54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to detect spatially continuous domains and maintain tissue integrity.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078" y="1116925"/>
            <a:ext cx="6695003" cy="37141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83078" y="5372052"/>
            <a:ext cx="201465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BANKSY (Local Approach)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483078" y="5943314"/>
            <a:ext cx="669500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a </a:t>
            </a:r>
            <a:r>
              <a:rPr lang="en-US" sz="14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filter/kernel-based framework</a:t>
            </a: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interpret local neighborhoods.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483078" y="6689669"/>
            <a:ext cx="669500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to capture subtle expression transitions and local heterogeneity</a:t>
            </a: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85618" y="7079289"/>
            <a:ext cx="1371052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Contribution: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first head-to-head comparison of GraphST and BANKSY on a Visium HD lung cancer ROI.</a:t>
            </a:r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121285-DA62-3D82-26E2-829498584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7800" y="7729098"/>
            <a:ext cx="1892599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11673840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Methodology: A Fair &amp; Reproducible Comparison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7574280" y="170604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Shared ROI: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Both methods analyzed the exact same tissue region: 14,880 spots and over 18,000 genes.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4280" y="2438043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Harmonised Pipeline: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Identical preprocessing, clustering (Leiden), and marker discovery (Wilcoxon test) were used for both branches.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3499961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Execution: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Fixed seeds and versioned code ensure 100% reproducibility of all artifacts.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87680" y="2165032"/>
            <a:ext cx="6342102" cy="3484654"/>
          </a:xfrm>
          <a:prstGeom prst="roundRect">
            <a:avLst>
              <a:gd name="adj" fmla="val 2014"/>
            </a:avLst>
          </a:prstGeom>
          <a:solidFill>
            <a:srgbClr val="F5F54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56" y="2575066"/>
            <a:ext cx="257651" cy="2060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2399" y="2500380"/>
            <a:ext cx="5466159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rigorous methodology minimizes confounding variables, providing unprecedented clarity in comparing these two distinct AI approaches.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B456B2-06E3-D186-EC5A-E3BAFF92C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0421" y="7713550"/>
            <a:ext cx="1760235" cy="381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245110-6FBC-C62E-3BD9-DE690059B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4939" y="7629722"/>
            <a:ext cx="2408129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729" y="390287"/>
            <a:ext cx="7849314" cy="443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Finding 1: Different Views, Same Geography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729" y="8011358"/>
            <a:ext cx="6645354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42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 4.1: UMAP Views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495937" y="8011358"/>
            <a:ext cx="6645354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42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 4.2: Spatial Overlays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23611" y="6240393"/>
            <a:ext cx="13636943" cy="93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Different Learned Geometry:</a:t>
            </a: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GraphST preserves smooth chains, suggesting gradual transitions, while BANKSY emphasizes crisp island separation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23611" y="6668033"/>
            <a:ext cx="13636943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Spatial Geography:</a:t>
            </a: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Despite different UMAPs, both models form large, coherent domains in comparable physical locations on the tissue slide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23611" y="7143392"/>
            <a:ext cx="13636943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Conclusion:</a:t>
            </a: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Both methods find robust, real biological structures; their main difference lies in how they represent the </a:t>
            </a:r>
            <a:r>
              <a:rPr lang="en-US" sz="14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boundaries</a:t>
            </a: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between them.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420D09-0023-8882-E4CC-ABCF01D58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18" y="1283652"/>
            <a:ext cx="5495555" cy="39410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B7D9AD-4CDB-3230-2481-5777FF823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320" y="1283652"/>
            <a:ext cx="5495555" cy="39410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6AB43C-FF5D-5835-A070-F9B98BB1E236}"/>
              </a:ext>
            </a:extLst>
          </p:cNvPr>
          <p:cNvSpPr txBox="1"/>
          <p:nvPr/>
        </p:nvSpPr>
        <p:spPr>
          <a:xfrm>
            <a:off x="935915" y="5496306"/>
            <a:ext cx="386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Fig: Banksy UMAP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627671-E8D8-E8E7-480B-874D736543AD}"/>
              </a:ext>
            </a:extLst>
          </p:cNvPr>
          <p:cNvSpPr txBox="1"/>
          <p:nvPr/>
        </p:nvSpPr>
        <p:spPr>
          <a:xfrm>
            <a:off x="8220635" y="5450711"/>
            <a:ext cx="386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Fig: </a:t>
            </a:r>
            <a:r>
              <a:rPr lang="en-US" dirty="0" err="1">
                <a:solidFill>
                  <a:schemeClr val="bg1"/>
                </a:solidFill>
              </a:rPr>
              <a:t>GraphST</a:t>
            </a:r>
            <a:r>
              <a:rPr lang="en-US" dirty="0">
                <a:solidFill>
                  <a:schemeClr val="bg1"/>
                </a:solidFill>
              </a:rPr>
              <a:t> UMAP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E3C946-94D5-A09D-E801-24C41AB38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6672" y="7762680"/>
            <a:ext cx="1893727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6020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Spatial Cluster Maps: GraphST vs. BANKSY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35469" y="5412922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GraphST and BANKSY models demonstrate successful identification of large, coherent tissue domains 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within the lung cancer Region of Interest (ROI), indicating robust detection of primary tissue compartments.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35468" y="5949995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crucial distinction emerges in how these models delineate cluster boundaries: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96830" y="627222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GraphST:</a:t>
            </a: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Generates more transitional belts at interfaces, a characteristic reflective of its graph-learning methodology that accommodates</a:t>
            </a:r>
          </a:p>
          <a:p>
            <a:pPr algn="l">
              <a:lnSpc>
                <a:spcPts val="1400"/>
              </a:lnSpc>
              <a:buSzPct val="100000"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gradual state changes between spatial domains.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96835" y="6604591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endParaRPr lang="en-US" sz="1400" b="1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BANKSY:</a:t>
            </a: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Emphasizes crisp, well-defined borders and exhibits fewer "salt-and-pepper" artifacts, consistent with its approach of </a:t>
            </a:r>
          </a:p>
          <a:p>
            <a:pPr algn="l">
              <a:lnSpc>
                <a:spcPts val="1400"/>
              </a:lnSpc>
              <a:buSzPct val="100000"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leveraging neighbor-enriched features to enhance local contrast.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35470" y="7440640"/>
            <a:ext cx="13836729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Despite these methodological differences in boundary definition, the first-order adjacencies—that is, the qualitative neighboring relationships between clusters—are largely conserved across both models, suggesting a shared understanding of macro-level tissue organization.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EB2FCF-7ABE-2255-D1A1-4641746C7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939" y="1079257"/>
            <a:ext cx="4343409" cy="39410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80CDFB-C91C-FFAC-BD89-6CB73F6CC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87" y="1079257"/>
            <a:ext cx="4343409" cy="39410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FE48A9-EF33-5B45-1D92-4D3F2DE20F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0878" y="7750837"/>
            <a:ext cx="1763462" cy="4018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2082" y="363022"/>
            <a:ext cx="9129713" cy="412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Finding 2: Highlighting Interfaces vs. Coherent Domains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62082" y="7962662"/>
            <a:ext cx="6692027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242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 4.3: GraphST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483912" y="7962662"/>
            <a:ext cx="6692027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242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 4.4: BANKSY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62081" y="6137219"/>
            <a:ext cx="13706237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Neighbourhood Enrichment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quantifies spatial contact patterns between cluster pairs.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69702" y="6677031"/>
            <a:ext cx="13706237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Bright Off-Diagonals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indicate enriched interfaces between different clusters.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2079" y="7217941"/>
            <a:ext cx="12161101" cy="506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Difference: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BANKSY shows slightly stronger off-diagonal contrast, better highlighting local boundaries, </a:t>
            </a:r>
          </a:p>
          <a:p>
            <a:pPr algn="l">
              <a:lnSpc>
                <a:spcPts val="1650"/>
              </a:lnSpc>
              <a:buSzPct val="100000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while GraphST's brighter diagonal reflects its focus on globally smoother domains.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8105E-38E2-9A28-69FE-6D4DC1740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87" y="1226036"/>
            <a:ext cx="4496434" cy="39038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F7B3CA-CC28-1630-F35F-624C50DD1509}"/>
              </a:ext>
            </a:extLst>
          </p:cNvPr>
          <p:cNvSpPr txBox="1"/>
          <p:nvPr/>
        </p:nvSpPr>
        <p:spPr>
          <a:xfrm>
            <a:off x="1837766" y="5417951"/>
            <a:ext cx="296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Fig: </a:t>
            </a:r>
            <a:r>
              <a:rPr lang="en-US" dirty="0" err="1">
                <a:solidFill>
                  <a:schemeClr val="bg1"/>
                </a:solidFill>
              </a:rPr>
              <a:t>GraphSt</a:t>
            </a:r>
            <a:r>
              <a:rPr lang="en-US" dirty="0">
                <a:solidFill>
                  <a:schemeClr val="bg1"/>
                </a:solidFill>
              </a:rPr>
              <a:t> Enrichment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629385-10FA-7AFC-605C-A94D980CC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551" y="1042988"/>
            <a:ext cx="4615032" cy="40002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DC6337-1D7B-B652-87E7-A86E76BA9C43}"/>
              </a:ext>
            </a:extLst>
          </p:cNvPr>
          <p:cNvSpPr txBox="1"/>
          <p:nvPr/>
        </p:nvSpPr>
        <p:spPr>
          <a:xfrm>
            <a:off x="8338969" y="5283649"/>
            <a:ext cx="296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Fig: Banksy Enrichment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58B512F-7BCB-649B-04CD-A672853C1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2586" y="7782123"/>
            <a:ext cx="171315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26" y="123358"/>
            <a:ext cx="9700141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Functional Annotation (GO/Enrichr): Broader vs. Specialised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371959" y="999238"/>
            <a:ext cx="735139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 Ontology (GO) was used to assign biological functions to each cluster's marker genes.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4087" y="820390"/>
            <a:ext cx="6653570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42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 4.6: GraphST Clusters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858495" y="6755178"/>
            <a:ext cx="6653570" cy="448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GraphST: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Its emphasis on smooth transitions results in broader functional domains, like "</a:t>
            </a:r>
            <a:r>
              <a:rPr lang="en-US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ECM-Remodeling/Stromal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".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-156216" y="5603255"/>
            <a:ext cx="6653570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Fig: BANKSY Go Analysis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485965" y="6744732"/>
            <a:ext cx="6653570" cy="448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BANKSY: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Its boundary-centric features lead to more specialized labels at interfaces, such as "</a:t>
            </a:r>
            <a:r>
              <a:rPr lang="en-US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Inflammatory &amp; Chemokine Signaling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515C78-0719-14B4-34F0-995B41341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87" y="1863591"/>
            <a:ext cx="6239698" cy="35572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35DDD5-19F4-EF2F-99BD-01FB6B8CC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495" y="1702303"/>
            <a:ext cx="6130709" cy="3718576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A4C0C52B-80A3-7C70-BA14-4396BE0FCFDD}"/>
              </a:ext>
            </a:extLst>
          </p:cNvPr>
          <p:cNvSpPr/>
          <p:nvPr/>
        </p:nvSpPr>
        <p:spPr>
          <a:xfrm>
            <a:off x="7047657" y="5603254"/>
            <a:ext cx="6653570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Fig: </a:t>
            </a:r>
            <a:r>
              <a:rPr lang="en-US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GraphSt</a:t>
            </a:r>
            <a:r>
              <a:rPr lang="en-US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Go Analysis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ED73BF-4A42-12B8-3C2E-FC11B0665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2886" y="7750263"/>
            <a:ext cx="2087513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058" y="365403"/>
            <a:ext cx="8686562" cy="41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Cell-Type Annotation (SingleR): Mixed vs. Niche-Specific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16429" y="979884"/>
            <a:ext cx="6997422" cy="207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SingleR was used to map clusters to likely cell types by comparing them to a reference atlas.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65058" y="8373666"/>
            <a:ext cx="6688098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242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 4.8: GraphST Clusters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39694" y="7140587"/>
            <a:ext cx="6688098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GraphST: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Its transition-aware partitions often result in broader,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mixed identities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gradients.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84864" y="8373666"/>
            <a:ext cx="6688098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242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 4.7: BANKSY Clusters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477244" y="7116339"/>
            <a:ext cx="6688098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BANKSY: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Its boundary-focused segmentation drives more </a:t>
            </a:r>
            <a:r>
              <a:rPr lang="en-US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specialized cell-type calls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 tumor-stroma interfaces.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65058" y="9399746"/>
            <a:ext cx="13700284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differences are principled and reflect each model's distinct approach to partitioning tissue.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270394-37B9-8CBD-996F-55CF38FBD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94" y="1789262"/>
            <a:ext cx="5947606" cy="33421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1608F5D-82AF-1D83-6A66-24BDC3F2B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880" y="1789262"/>
            <a:ext cx="5947606" cy="33421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C0708E-599A-F213-620D-8DEE09B31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3342" y="7757652"/>
            <a:ext cx="1751753" cy="381033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4EBEFC47-4A51-9D38-538B-DB1AACB78311}"/>
              </a:ext>
            </a:extLst>
          </p:cNvPr>
          <p:cNvSpPr/>
          <p:nvPr/>
        </p:nvSpPr>
        <p:spPr>
          <a:xfrm>
            <a:off x="-156216" y="5603255"/>
            <a:ext cx="6653570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Fig: </a:t>
            </a:r>
            <a:r>
              <a:rPr lang="en-US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GraphSt</a:t>
            </a:r>
            <a:r>
              <a:rPr lang="en-US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Go Analysis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4C2E0D55-B213-067A-5E23-BC12A8F39B83}"/>
              </a:ext>
            </a:extLst>
          </p:cNvPr>
          <p:cNvSpPr/>
          <p:nvPr/>
        </p:nvSpPr>
        <p:spPr>
          <a:xfrm>
            <a:off x="5824835" y="5599288"/>
            <a:ext cx="6653570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Fig: BANKSY </a:t>
            </a:r>
            <a:r>
              <a:rPr lang="en-US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SingleR</a:t>
            </a:r>
            <a:r>
              <a:rPr lang="en-US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Analysis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253" y="389930"/>
            <a:ext cx="7519392" cy="443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Finding 3: Deep Dive into CAF/TLS Niches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010614" y="1045726"/>
            <a:ext cx="8609052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Mapping Key TME Niches: Cancer-Associated Fibroblasts (CAFs) and Tertiary Lymphoid Structures (TLS).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253" y="8444746"/>
            <a:ext cx="66459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42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 4.10: BANKSY Niche 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52008" y="7161261"/>
            <a:ext cx="66459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BANKSY (Boundary-Focused):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Identifies CAF programs as thin, crisp </a:t>
            </a:r>
            <a:r>
              <a:rPr lang="en-US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rings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outlining tumor cores and TLS as compact </a:t>
            </a:r>
            <a:r>
              <a:rPr lang="en-US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foci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95818" y="8444746"/>
            <a:ext cx="66459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42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 4.11: GraphST Niche Map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21729" y="7193952"/>
            <a:ext cx="66459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 err="1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GraphST</a:t>
            </a:r>
            <a:r>
              <a:rPr lang="en-US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(Transition-Focused):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Identifies CAF programs as broader </a:t>
            </a:r>
            <a:r>
              <a:rPr lang="en-US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belts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representing gradual transitions.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6D43A0-35B5-CAC8-2678-E57FDA31B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13" y="1896838"/>
            <a:ext cx="5193802" cy="3941072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7DCAA4F5-5638-BA3D-7BDD-2425CCFB4956}"/>
              </a:ext>
            </a:extLst>
          </p:cNvPr>
          <p:cNvSpPr/>
          <p:nvPr/>
        </p:nvSpPr>
        <p:spPr>
          <a:xfrm>
            <a:off x="-316171" y="6113879"/>
            <a:ext cx="6653570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Fig: BANKSY </a:t>
            </a:r>
            <a:r>
              <a:rPr lang="en-US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SingleR</a:t>
            </a:r>
            <a:r>
              <a:rPr lang="en-US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Analysis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25B096-2D27-6794-0D04-322EF494F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645" y="1896838"/>
            <a:ext cx="5193802" cy="3941072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D047D218-D85C-8E9F-0C69-09DAFDB8C39D}"/>
              </a:ext>
            </a:extLst>
          </p:cNvPr>
          <p:cNvSpPr/>
          <p:nvPr/>
        </p:nvSpPr>
        <p:spPr>
          <a:xfrm>
            <a:off x="6893245" y="6108567"/>
            <a:ext cx="6653570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Fig: </a:t>
            </a:r>
            <a:r>
              <a:rPr lang="en-US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GraphST</a:t>
            </a:r>
            <a:r>
              <a:rPr lang="en-US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SingleR</a:t>
            </a:r>
            <a:r>
              <a:rPr lang="en-US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Analysis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D3F054-470B-FDDF-AD8C-93B56F098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3342" y="7759377"/>
            <a:ext cx="1827057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387" y="336590"/>
            <a:ext cx="3912513" cy="38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Quantifying the Agreement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8387" y="6508194"/>
            <a:ext cx="5330190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42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 4.3: Comparison Metrics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6064806" y="9013388"/>
            <a:ext cx="8144708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42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 4.12: Jaccard Similarity Heatmap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250968" y="6559478"/>
            <a:ext cx="13773626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Compared the top-3000 marker genes for each cluster pair using the Jaccard index and Fisher's exact test.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50968" y="7006990"/>
            <a:ext cx="13773626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Agreement: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highest-matching pairs (Jaccard = 0.66 and 0.45) correspond to core tumor and immune niches.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688" y="7454502"/>
            <a:ext cx="13773626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Principled Disagreement: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Lower overlap pairs correspond to interface zones, where BANKSY creates finer niches while GraphST models 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wider transition.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EAF8EB-BDD4-8E11-D85F-E864EB0ED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686" y="1040367"/>
            <a:ext cx="6088828" cy="49889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ED3832-4AF6-DBB4-045D-E24FA8243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68" y="1195276"/>
            <a:ext cx="7516053" cy="45881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F71D62-1F3A-44C8-8AF4-F8A5C7F7B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8248" y="7700314"/>
            <a:ext cx="1675334" cy="4180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052" y="784860"/>
            <a:ext cx="3446502" cy="430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052" y="1387912"/>
            <a:ext cx="6502003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GraphST and BANKSY are </a:t>
            </a:r>
            <a:r>
              <a:rPr lang="en-US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complementary</a:t>
            </a: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not competing, tools for spatial transcriptomics analysis.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3052" y="1999417"/>
            <a:ext cx="6502003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GraphST is ideal for studying global tissue architecture, broad domains, and smooth biological transitions.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3052" y="2610922"/>
            <a:ext cx="6502003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BANKSY excels at dissecting sharp micro-niche boundaries, localized gradients, and fine-grained spatial heterogeneity.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32965" y="784860"/>
            <a:ext cx="3446502" cy="430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Future Work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532965" y="1500961"/>
            <a:ext cx="86082" cy="86082"/>
          </a:xfrm>
          <a:prstGeom prst="roundRect">
            <a:avLst>
              <a:gd name="adj" fmla="val 531121"/>
            </a:avLst>
          </a:prstGeom>
          <a:solidFill>
            <a:srgbClr val="F5F547"/>
          </a:solidFill>
          <a:ln/>
        </p:spPr>
      </p:sp>
      <p:sp>
        <p:nvSpPr>
          <p:cNvPr id="8" name="Text 6"/>
          <p:cNvSpPr/>
          <p:nvPr/>
        </p:nvSpPr>
        <p:spPr>
          <a:xfrm>
            <a:off x="7791331" y="1409462"/>
            <a:ext cx="3618190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Multi-scale Neighbourhood Analysis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91331" y="1850946"/>
            <a:ext cx="6243638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and apply methods for analysing spatial neighborhoods at multiple resolutions to capture a more complete picture of tissue organization.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32965" y="2838271"/>
            <a:ext cx="86082" cy="86082"/>
          </a:xfrm>
          <a:prstGeom prst="roundRect">
            <a:avLst>
              <a:gd name="adj" fmla="val 531121"/>
            </a:avLst>
          </a:prstGeom>
          <a:solidFill>
            <a:srgbClr val="F5F547"/>
          </a:solidFill>
          <a:ln/>
        </p:spPr>
      </p:sp>
      <p:sp>
        <p:nvSpPr>
          <p:cNvPr id="11" name="Text 9"/>
          <p:cNvSpPr/>
          <p:nvPr/>
        </p:nvSpPr>
        <p:spPr>
          <a:xfrm>
            <a:off x="7791331" y="2746772"/>
            <a:ext cx="2310884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Broader Benchmarking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91331" y="3188256"/>
            <a:ext cx="6243638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this comparative framework to a wider range of spatial transcriptomics datasets and tumour types to validate generalizability and identify context-specific strengths</a:t>
            </a: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32965" y="4451211"/>
            <a:ext cx="86082" cy="86082"/>
          </a:xfrm>
          <a:prstGeom prst="roundRect">
            <a:avLst>
              <a:gd name="adj" fmla="val 531121"/>
            </a:avLst>
          </a:prstGeom>
          <a:solidFill>
            <a:srgbClr val="F5F5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91331" y="4359712"/>
            <a:ext cx="2324219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Histological Integration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91331" y="4801195"/>
            <a:ext cx="6243638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high-resolution histological images directly into the computational models for orthogonal validation and improved biological interpretability of identified spatial structures.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052" y="6101815"/>
            <a:ext cx="13424297" cy="29051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161121" y="6389251"/>
            <a:ext cx="4308158" cy="538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</a:t>
            </a:r>
            <a:endParaRPr lang="en-US" sz="3350" dirty="0"/>
          </a:p>
        </p:txBody>
      </p:sp>
      <p:sp>
        <p:nvSpPr>
          <p:cNvPr id="18" name="Text 16"/>
          <p:cNvSpPr/>
          <p:nvPr/>
        </p:nvSpPr>
        <p:spPr>
          <a:xfrm>
            <a:off x="5591889" y="7186136"/>
            <a:ext cx="3446502" cy="430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Questions?</a:t>
            </a:r>
            <a:endParaRPr lang="en-US" sz="2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A89A937-7808-ACC4-AF8C-162253158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2271" y="7625260"/>
            <a:ext cx="2408129" cy="548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1083</Words>
  <Application>Microsoft Office PowerPoint</Application>
  <PresentationFormat>Custom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Instrument Sans Medium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Uttarala Suhas</dc:creator>
  <cp:lastModifiedBy>Uttarala Suhas</cp:lastModifiedBy>
  <cp:revision>2</cp:revision>
  <dcterms:created xsi:type="dcterms:W3CDTF">2025-09-03T10:05:56Z</dcterms:created>
  <dcterms:modified xsi:type="dcterms:W3CDTF">2025-09-03T10:41:46Z</dcterms:modified>
</cp:coreProperties>
</file>